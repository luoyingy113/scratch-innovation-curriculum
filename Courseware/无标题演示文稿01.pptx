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ZCOOL KuaiLe"/>
      <p:regular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ZCOOLKuaiLe-regular.fntdata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704474637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970447463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970447463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970447463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704474637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9704474637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704474637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9704474637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704474637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9704474637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9704474637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9704474637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704474637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9704474637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9704474637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9704474637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9704474637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9704474637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9704474637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9704474637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9704474637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9704474637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9704474637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9704474637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9704474637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9704474637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9704474637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9704474637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9704474637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9704474637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9704474637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9704474637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9704474637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9704474637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9704474637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9704474637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9704474637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9704474637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gif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0E0E3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latin typeface="ZCOOL KuaiLe"/>
                <a:ea typeface="ZCOOL KuaiLe"/>
                <a:cs typeface="ZCOOL KuaiLe"/>
                <a:sym typeface="ZCOOL KuaiLe"/>
              </a:rPr>
              <a:t>Scratch</a:t>
            </a:r>
            <a:r>
              <a:rPr lang="zh-CN">
                <a:latin typeface="ZCOOL KuaiLe"/>
                <a:ea typeface="ZCOOL KuaiLe"/>
                <a:cs typeface="ZCOOL KuaiLe"/>
                <a:sym typeface="ZCOOL KuaiLe"/>
              </a:rPr>
              <a:t>入门</a:t>
            </a:r>
            <a:endParaRPr>
              <a:latin typeface="ZCOOL KuaiLe"/>
              <a:ea typeface="ZCOOL KuaiLe"/>
              <a:cs typeface="ZCOOL KuaiLe"/>
              <a:sym typeface="ZCOOL KuaiLe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第一节课</a:t>
            </a:r>
            <a:endParaRPr/>
          </a:p>
        </p:txBody>
      </p:sp>
      <p:pic>
        <p:nvPicPr>
          <p:cNvPr descr="a cartoon cat is walking and smiling on a white background .（由Tenor提供）"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238500"/>
            <a:ext cx="190500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0E0E3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下载步骤：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2262300" cy="4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CN"/>
              <a:t>1.</a:t>
            </a:r>
            <a:r>
              <a:rPr lang="zh-CN"/>
              <a:t>打开U盘的文件夹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904825" y="1152475"/>
            <a:ext cx="2262300" cy="4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CN" sz="1650"/>
              <a:t>2.</a:t>
            </a:r>
            <a:r>
              <a:rPr lang="zh-CN" sz="1650"/>
              <a:t>右键点击文件夹“Scratch Desktop”</a:t>
            </a:r>
            <a:endParaRPr sz="1650"/>
          </a:p>
        </p:txBody>
      </p:sp>
      <p:sp>
        <p:nvSpPr>
          <p:cNvPr id="64" name="Google Shape;64;p14"/>
          <p:cNvSpPr txBox="1"/>
          <p:nvPr/>
        </p:nvSpPr>
        <p:spPr>
          <a:xfrm>
            <a:off x="6167125" y="11391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CN" sz="1800">
                <a:solidFill>
                  <a:schemeClr val="dk2"/>
                </a:solidFill>
              </a:rPr>
              <a:t>3.解压缩</a:t>
            </a:r>
            <a:endParaRPr/>
          </a:p>
        </p:txBody>
      </p:sp>
      <p:sp>
        <p:nvSpPr>
          <p:cNvPr id="65" name="Google Shape;65;p14"/>
          <p:cNvSpPr txBox="1"/>
          <p:nvPr/>
        </p:nvSpPr>
        <p:spPr>
          <a:xfrm>
            <a:off x="128650" y="3722350"/>
            <a:ext cx="30000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CN" sz="1800">
                <a:solidFill>
                  <a:schemeClr val="dk2"/>
                </a:solidFill>
              </a:rPr>
              <a:t>4.进入解压缩后的文件夹，打开Scratch Desktop</a:t>
            </a:r>
            <a:endParaRPr/>
          </a:p>
        </p:txBody>
      </p:sp>
      <p:pic>
        <p:nvPicPr>
          <p:cNvPr id="66" name="Google Shape;66;p14" title="80769d10daca0cd3d94b627798b1b58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5150" y="1722225"/>
            <a:ext cx="1784850" cy="18860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7" name="Google Shape;67;p14"/>
          <p:cNvCxnSpPr/>
          <p:nvPr/>
        </p:nvCxnSpPr>
        <p:spPr>
          <a:xfrm rot="10800000">
            <a:off x="6997300" y="2774525"/>
            <a:ext cx="1014300" cy="17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68" name="Google Shape;68;p14" title="77eb7889496ccff949a077e1f7cd2f3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48175" y="3268825"/>
            <a:ext cx="2715674" cy="1790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" name="Google Shape;69;p14"/>
          <p:cNvCxnSpPr/>
          <p:nvPr/>
        </p:nvCxnSpPr>
        <p:spPr>
          <a:xfrm flipH="1">
            <a:off x="5035000" y="4425450"/>
            <a:ext cx="1641300" cy="216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0E0E3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5" title="c9f79847038adf7226ae42abda767133.jpg"/>
          <p:cNvPicPr preferRelativeResize="0"/>
          <p:nvPr/>
        </p:nvPicPr>
        <p:blipFill rotWithShape="1">
          <a:blip r:embed="rId3">
            <a:alphaModFix/>
          </a:blip>
          <a:srcRect b="0" l="626" r="0" t="823"/>
          <a:stretch/>
        </p:blipFill>
        <p:spPr>
          <a:xfrm>
            <a:off x="615050" y="21263"/>
            <a:ext cx="7913900" cy="510097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/>
        </p:nvSpPr>
        <p:spPr>
          <a:xfrm>
            <a:off x="3054425" y="2599113"/>
            <a:ext cx="674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4A86E8"/>
                </a:solidFill>
              </a:rPr>
              <a:t>脚本区</a:t>
            </a:r>
            <a:endParaRPr sz="1800">
              <a:solidFill>
                <a:srgbClr val="4A86E8"/>
              </a:solidFill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1511400" y="4216200"/>
            <a:ext cx="612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0000FF"/>
                </a:solidFill>
              </a:rPr>
              <a:t>代码库</a:t>
            </a:r>
            <a:endParaRPr sz="1800">
              <a:solidFill>
                <a:srgbClr val="0000FF"/>
              </a:solidFill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6038550" y="1081200"/>
            <a:ext cx="612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00FFFF"/>
                </a:solidFill>
              </a:rPr>
              <a:t>舞台</a:t>
            </a:r>
            <a:endParaRPr sz="1800">
              <a:solidFill>
                <a:srgbClr val="00FFFF"/>
              </a:solidFill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5659600" y="4539375"/>
            <a:ext cx="612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FF0000"/>
                </a:solidFill>
              </a:rPr>
              <a:t>角色编辑区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2562125" y="780025"/>
            <a:ext cx="2869200" cy="4342200"/>
          </a:xfrm>
          <a:prstGeom prst="rect">
            <a:avLst/>
          </a:prstGeom>
          <a:noFill/>
          <a:ln cap="flat" cmpd="sng" w="38100">
            <a:solidFill>
              <a:srgbClr val="4A86E8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0" name="Google Shape;80;p15"/>
          <p:cNvCxnSpPr/>
          <p:nvPr/>
        </p:nvCxnSpPr>
        <p:spPr>
          <a:xfrm flipH="1">
            <a:off x="8440050" y="3149850"/>
            <a:ext cx="329400" cy="47820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1" name="Google Shape;81;p15"/>
          <p:cNvSpPr txBox="1"/>
          <p:nvPr/>
        </p:nvSpPr>
        <p:spPr>
          <a:xfrm>
            <a:off x="8702200" y="2241675"/>
            <a:ext cx="450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9900FF"/>
                </a:solidFill>
              </a:rPr>
              <a:t>背景</a:t>
            </a:r>
            <a:r>
              <a:rPr lang="zh-CN" sz="1800">
                <a:solidFill>
                  <a:srgbClr val="9900FF"/>
                </a:solidFill>
              </a:rPr>
              <a:t>编辑区</a:t>
            </a:r>
            <a:endParaRPr sz="1800">
              <a:solidFill>
                <a:srgbClr val="9900FF"/>
              </a:solidFill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5517575" y="780025"/>
            <a:ext cx="2964900" cy="2210400"/>
          </a:xfrm>
          <a:prstGeom prst="rect">
            <a:avLst/>
          </a:prstGeom>
          <a:noFill/>
          <a:ln cap="flat" cmpd="sng" w="38100">
            <a:solidFill>
              <a:srgbClr val="00FFFF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5"/>
          <p:cNvSpPr/>
          <p:nvPr/>
        </p:nvSpPr>
        <p:spPr>
          <a:xfrm>
            <a:off x="5517575" y="3699050"/>
            <a:ext cx="2484000" cy="14445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8052875" y="3045950"/>
            <a:ext cx="450000" cy="2076300"/>
          </a:xfrm>
          <a:prstGeom prst="rect">
            <a:avLst/>
          </a:prstGeom>
          <a:noFill/>
          <a:ln cap="flat" cmpd="sng" w="38100">
            <a:solidFill>
              <a:srgbClr val="9900FF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5"/>
          <p:cNvSpPr/>
          <p:nvPr/>
        </p:nvSpPr>
        <p:spPr>
          <a:xfrm>
            <a:off x="614975" y="790425"/>
            <a:ext cx="1860900" cy="4342200"/>
          </a:xfrm>
          <a:prstGeom prst="rect">
            <a:avLst/>
          </a:prstGeom>
          <a:noFill/>
          <a:ln cap="flat" cmpd="sng" w="38100">
            <a:solidFill>
              <a:srgbClr val="0000FF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5"/>
          <p:cNvSpPr txBox="1"/>
          <p:nvPr/>
        </p:nvSpPr>
        <p:spPr>
          <a:xfrm>
            <a:off x="6038550" y="3149088"/>
            <a:ext cx="126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00FF00"/>
                </a:solidFill>
              </a:rPr>
              <a:t>角色状态</a:t>
            </a:r>
            <a:endParaRPr sz="1800">
              <a:solidFill>
                <a:srgbClr val="00FF00"/>
              </a:solidFill>
            </a:endParaRPr>
          </a:p>
        </p:txBody>
      </p:sp>
      <p:sp>
        <p:nvSpPr>
          <p:cNvPr id="87" name="Google Shape;87;p15"/>
          <p:cNvSpPr/>
          <p:nvPr/>
        </p:nvSpPr>
        <p:spPr>
          <a:xfrm>
            <a:off x="5517575" y="3042650"/>
            <a:ext cx="2484000" cy="6564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0E0E3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舞台区：坐标</a:t>
            </a:r>
            <a:endParaRPr/>
          </a:p>
        </p:txBody>
      </p:sp>
      <p:pic>
        <p:nvPicPr>
          <p:cNvPr id="93" name="Google Shape;93;p16" title="a45a90ab0872b98a30d918dc77df15d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3624" y="1690162"/>
            <a:ext cx="3014731" cy="2952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6" title="fa506e1dbca03616ac09ae0aebeae6d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1069" y="1683625"/>
            <a:ext cx="3014729" cy="29655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5" name="Google Shape;95;p16"/>
          <p:cNvCxnSpPr>
            <a:stCxn id="93" idx="3"/>
            <a:endCxn id="94" idx="1"/>
          </p:cNvCxnSpPr>
          <p:nvPr/>
        </p:nvCxnSpPr>
        <p:spPr>
          <a:xfrm>
            <a:off x="3938356" y="3166381"/>
            <a:ext cx="1392600" cy="0"/>
          </a:xfrm>
          <a:prstGeom prst="straightConnector1">
            <a:avLst/>
          </a:prstGeom>
          <a:noFill/>
          <a:ln cap="flat" cmpd="sng" w="509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6" name="Google Shape;96;p16"/>
          <p:cNvSpPr txBox="1"/>
          <p:nvPr/>
        </p:nvSpPr>
        <p:spPr>
          <a:xfrm>
            <a:off x="405950" y="1088200"/>
            <a:ext cx="6121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dk2"/>
                </a:solidFill>
              </a:rPr>
              <a:t>鼠标左键按住小猫，然后拖动它，观察角色状态里的x和y的数值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2008788" y="4015254"/>
            <a:ext cx="1448400" cy="301200"/>
          </a:xfrm>
          <a:prstGeom prst="rect">
            <a:avLst/>
          </a:prstGeom>
          <a:noFill/>
          <a:ln cap="flat" cmpd="sng" w="50950">
            <a:solidFill>
              <a:srgbClr val="00FFFF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122300" lIns="122300" spcFirstLastPara="1" rIns="122300" wrap="square" tIns="122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72"/>
          </a:p>
        </p:txBody>
      </p:sp>
      <p:sp>
        <p:nvSpPr>
          <p:cNvPr id="98" name="Google Shape;98;p16"/>
          <p:cNvSpPr/>
          <p:nvPr/>
        </p:nvSpPr>
        <p:spPr>
          <a:xfrm>
            <a:off x="6424588" y="4015254"/>
            <a:ext cx="1448400" cy="301200"/>
          </a:xfrm>
          <a:prstGeom prst="rect">
            <a:avLst/>
          </a:prstGeom>
          <a:noFill/>
          <a:ln cap="flat" cmpd="sng" w="50950">
            <a:solidFill>
              <a:srgbClr val="00FFFF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122300" lIns="122300" spcFirstLastPara="1" rIns="122300" wrap="square" tIns="122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72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0E0E3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zh-CN"/>
              <a:t>舞台区：坐标</a:t>
            </a:r>
            <a:endParaRPr/>
          </a:p>
        </p:txBody>
      </p:sp>
      <p:sp>
        <p:nvSpPr>
          <p:cNvPr id="104" name="Google Shape;104;p17"/>
          <p:cNvSpPr txBox="1"/>
          <p:nvPr>
            <p:ph idx="1" type="body"/>
          </p:nvPr>
        </p:nvSpPr>
        <p:spPr>
          <a:xfrm>
            <a:off x="311700" y="1152475"/>
            <a:ext cx="3858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CN"/>
              <a:t>把舞台想象成一个坐标轴：</a:t>
            </a:r>
            <a:endParaRPr/>
          </a:p>
        </p:txBody>
      </p:sp>
      <p:pic>
        <p:nvPicPr>
          <p:cNvPr id="105" name="Google Shape;105;p17" title="v2-7911af9d2d3417aa2778a7ad7b6104de_720w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662150"/>
            <a:ext cx="3858476" cy="29067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7"/>
          <p:cNvSpPr txBox="1"/>
          <p:nvPr>
            <p:ph idx="1" type="body"/>
          </p:nvPr>
        </p:nvSpPr>
        <p:spPr>
          <a:xfrm>
            <a:off x="4572000" y="1152475"/>
            <a:ext cx="3858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CN"/>
              <a:t>小猫是坐标轴上的一个点</a:t>
            </a:r>
            <a:r>
              <a:rPr lang="zh-CN"/>
              <a:t>：</a:t>
            </a:r>
            <a:endParaRPr/>
          </a:p>
        </p:txBody>
      </p:sp>
      <p:pic>
        <p:nvPicPr>
          <p:cNvPr id="107" name="Google Shape;107;p17" title="v2-7911af9d2d3417aa2778a7ad7b6104de_720w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662150"/>
            <a:ext cx="3858476" cy="29067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7"/>
          <p:cNvSpPr/>
          <p:nvPr/>
        </p:nvSpPr>
        <p:spPr>
          <a:xfrm>
            <a:off x="6422675" y="3030175"/>
            <a:ext cx="116100" cy="116100"/>
          </a:xfrm>
          <a:prstGeom prst="ellipse">
            <a:avLst/>
          </a:prstGeom>
          <a:solidFill>
            <a:srgbClr val="FF9900"/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7"/>
          <p:cNvSpPr txBox="1"/>
          <p:nvPr/>
        </p:nvSpPr>
        <p:spPr>
          <a:xfrm>
            <a:off x="6561400" y="2765875"/>
            <a:ext cx="260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dk2"/>
                </a:solidFill>
              </a:rPr>
              <a:t>位置：x=1,y=1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0E0E3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zh-CN"/>
              <a:t>舞台区：坐标</a:t>
            </a:r>
            <a:endParaRPr/>
          </a:p>
        </p:txBody>
      </p:sp>
      <p:sp>
        <p:nvSpPr>
          <p:cNvPr id="115" name="Google Shape;115;p18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zh-CN"/>
              <a:t>x=0,y=0或（0,0）成为原点，在scratch的舞台中，原点处于正中心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zh-CN"/>
              <a:t>在其他编程软件中，原点也可能处于左上角/左下角等位置</a:t>
            </a:r>
            <a:endParaRPr/>
          </a:p>
        </p:txBody>
      </p:sp>
      <p:pic>
        <p:nvPicPr>
          <p:cNvPr id="116" name="Google Shape;116;p18" title="a45a90ab0872b98a30d918dc77df15d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8950" y="1817450"/>
            <a:ext cx="3244300" cy="3177274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8"/>
          <p:cNvSpPr txBox="1"/>
          <p:nvPr/>
        </p:nvSpPr>
        <p:spPr>
          <a:xfrm>
            <a:off x="1795075" y="1732425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CN" sz="1000">
                <a:solidFill>
                  <a:srgbClr val="9900FF"/>
                </a:solidFill>
              </a:rPr>
              <a:t>（-272,215）</a:t>
            </a:r>
            <a:endParaRPr sz="600">
              <a:solidFill>
                <a:srgbClr val="9900FF"/>
              </a:solidFill>
            </a:endParaRPr>
          </a:p>
        </p:txBody>
      </p:sp>
      <p:sp>
        <p:nvSpPr>
          <p:cNvPr id="118" name="Google Shape;118;p18"/>
          <p:cNvSpPr txBox="1"/>
          <p:nvPr/>
        </p:nvSpPr>
        <p:spPr>
          <a:xfrm>
            <a:off x="1700600" y="3999625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CN" sz="1000">
                <a:solidFill>
                  <a:srgbClr val="9900FF"/>
                </a:solidFill>
              </a:rPr>
              <a:t>（-272,-214</a:t>
            </a:r>
            <a:r>
              <a:rPr lang="zh-CN" sz="1000">
                <a:solidFill>
                  <a:schemeClr val="dk2"/>
                </a:solidFill>
              </a:rPr>
              <a:t>）</a:t>
            </a:r>
            <a:endParaRPr sz="600"/>
          </a:p>
        </p:txBody>
      </p:sp>
      <p:sp>
        <p:nvSpPr>
          <p:cNvPr id="119" name="Google Shape;119;p18"/>
          <p:cNvSpPr txBox="1"/>
          <p:nvPr/>
        </p:nvSpPr>
        <p:spPr>
          <a:xfrm>
            <a:off x="5641550" y="3999625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CN" sz="1000">
                <a:solidFill>
                  <a:srgbClr val="9900FF"/>
                </a:solidFill>
              </a:rPr>
              <a:t>（272,-214）</a:t>
            </a:r>
            <a:endParaRPr sz="600">
              <a:solidFill>
                <a:srgbClr val="9900FF"/>
              </a:solidFill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5641550" y="16899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CN" sz="1000">
                <a:solidFill>
                  <a:srgbClr val="9900FF"/>
                </a:solidFill>
              </a:rPr>
              <a:t>（272,215）</a:t>
            </a:r>
            <a:endParaRPr sz="600">
              <a:solidFill>
                <a:srgbClr val="9900FF"/>
              </a:solidFill>
            </a:endParaRPr>
          </a:p>
        </p:txBody>
      </p:sp>
      <p:sp>
        <p:nvSpPr>
          <p:cNvPr id="121" name="Google Shape;121;p18"/>
          <p:cNvSpPr txBox="1"/>
          <p:nvPr/>
        </p:nvSpPr>
        <p:spPr>
          <a:xfrm>
            <a:off x="4120250" y="2942188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CN" sz="1000">
                <a:solidFill>
                  <a:srgbClr val="00FFFF"/>
                </a:solidFill>
              </a:rPr>
              <a:t>（0,0）</a:t>
            </a:r>
            <a:endParaRPr sz="600">
              <a:solidFill>
                <a:srgbClr val="00FFFF"/>
              </a:solidFill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2538950" y="1803050"/>
            <a:ext cx="119100" cy="1191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00FF"/>
              </a:solidFill>
            </a:endParaRPr>
          </a:p>
        </p:txBody>
      </p:sp>
      <p:sp>
        <p:nvSpPr>
          <p:cNvPr id="123" name="Google Shape;123;p18"/>
          <p:cNvSpPr/>
          <p:nvPr/>
        </p:nvSpPr>
        <p:spPr>
          <a:xfrm>
            <a:off x="2538950" y="4148900"/>
            <a:ext cx="119100" cy="1191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8"/>
          <p:cNvSpPr/>
          <p:nvPr/>
        </p:nvSpPr>
        <p:spPr>
          <a:xfrm>
            <a:off x="5690475" y="1799700"/>
            <a:ext cx="119100" cy="1191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8"/>
          <p:cNvSpPr/>
          <p:nvPr/>
        </p:nvSpPr>
        <p:spPr>
          <a:xfrm>
            <a:off x="5690475" y="4151950"/>
            <a:ext cx="119100" cy="1191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8"/>
          <p:cNvSpPr/>
          <p:nvPr/>
        </p:nvSpPr>
        <p:spPr>
          <a:xfrm>
            <a:off x="4120250" y="2975825"/>
            <a:ext cx="119100" cy="1191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8"/>
          <p:cNvSpPr txBox="1"/>
          <p:nvPr/>
        </p:nvSpPr>
        <p:spPr>
          <a:xfrm>
            <a:off x="0" y="3316425"/>
            <a:ext cx="602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dk2"/>
                </a:solidFill>
              </a:rPr>
              <a:t>舞台四个角落的坐标值：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0E0E3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角色移动</a:t>
            </a:r>
            <a:endParaRPr/>
          </a:p>
        </p:txBody>
      </p:sp>
      <p:sp>
        <p:nvSpPr>
          <p:cNvPr id="133" name="Google Shape;13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/>
              <a:t>从左边的库中找到这三个“拼图”，链接起来，然后点击舞台上方的旗子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/>
              <a:t>你可以再点击几次</a:t>
            </a:r>
            <a:endParaRPr/>
          </a:p>
        </p:txBody>
      </p:sp>
      <p:pic>
        <p:nvPicPr>
          <p:cNvPr id="134" name="Google Shape;134;p19" title="25a3a25853528e587964743a3fe73b8c.png"/>
          <p:cNvPicPr preferRelativeResize="0"/>
          <p:nvPr/>
        </p:nvPicPr>
        <p:blipFill rotWithShape="1">
          <a:blip r:embed="rId3">
            <a:alphaModFix/>
          </a:blip>
          <a:srcRect b="45625" l="30501" r="49376" t="26617"/>
          <a:stretch/>
        </p:blipFill>
        <p:spPr>
          <a:xfrm>
            <a:off x="1519825" y="2118525"/>
            <a:ext cx="3306151" cy="2800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9" title="4f846e7d07800afc249e44222946340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57225" y="2374325"/>
            <a:ext cx="2168875" cy="228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0E0E3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角色移动</a:t>
            </a:r>
            <a:endParaRPr/>
          </a:p>
        </p:txBody>
      </p:sp>
      <p:sp>
        <p:nvSpPr>
          <p:cNvPr id="141" name="Google Shape;14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更换拼图，然后点击舞台上方的旗子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/>
              <a:t>你可以再点击几次，与上一组的结果有什么不同</a:t>
            </a:r>
            <a:endParaRPr/>
          </a:p>
        </p:txBody>
      </p:sp>
      <p:pic>
        <p:nvPicPr>
          <p:cNvPr id="142" name="Google Shape;142;p20" title="25a3a25853528e587964743a3fe73b8c.png"/>
          <p:cNvPicPr preferRelativeResize="0"/>
          <p:nvPr/>
        </p:nvPicPr>
        <p:blipFill rotWithShape="1">
          <a:blip r:embed="rId3">
            <a:alphaModFix/>
          </a:blip>
          <a:srcRect b="45625" l="30501" r="49376" t="26617"/>
          <a:stretch/>
        </p:blipFill>
        <p:spPr>
          <a:xfrm>
            <a:off x="1519825" y="2118525"/>
            <a:ext cx="3306151" cy="280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0E0E3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角色移动-</a:t>
            </a:r>
            <a:r>
              <a:rPr lang="zh-CN"/>
              <a:t>循环</a:t>
            </a:r>
            <a:endParaRPr/>
          </a:p>
        </p:txBody>
      </p:sp>
      <p:sp>
        <p:nvSpPr>
          <p:cNvPr id="148" name="Google Shape;14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CN"/>
              <a:t>如果你不想一次次重复点击了，该怎么办？</a:t>
            </a:r>
            <a:endParaRPr/>
          </a:p>
        </p:txBody>
      </p:sp>
      <p:pic>
        <p:nvPicPr>
          <p:cNvPr id="149" name="Google Shape;149;p21" title="25a3a25853528e587964743a3fe73b8c.png"/>
          <p:cNvPicPr preferRelativeResize="0"/>
          <p:nvPr/>
        </p:nvPicPr>
        <p:blipFill rotWithShape="1">
          <a:blip r:embed="rId3">
            <a:alphaModFix/>
          </a:blip>
          <a:srcRect b="45625" l="30501" r="49376" t="26617"/>
          <a:stretch/>
        </p:blipFill>
        <p:spPr>
          <a:xfrm>
            <a:off x="1519825" y="2118525"/>
            <a:ext cx="3306151" cy="2800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1" title="4f846e7d07800afc249e44222946340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57225" y="2374325"/>
            <a:ext cx="2168875" cy="228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1" title="25a3a25853528e587964743a3fe73b8c.png"/>
          <p:cNvPicPr preferRelativeResize="0"/>
          <p:nvPr/>
        </p:nvPicPr>
        <p:blipFill rotWithShape="1">
          <a:blip r:embed="rId3">
            <a:alphaModFix/>
          </a:blip>
          <a:srcRect b="45625" l="30501" r="49376" t="26617"/>
          <a:stretch/>
        </p:blipFill>
        <p:spPr>
          <a:xfrm>
            <a:off x="1519825" y="2118525"/>
            <a:ext cx="3306151" cy="280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0E0E3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角色移动-循环</a:t>
            </a:r>
            <a:endParaRPr/>
          </a:p>
        </p:txBody>
      </p:sp>
      <p:sp>
        <p:nvSpPr>
          <p:cNvPr id="157" name="Google Shape;15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CN"/>
              <a:t>在左侧选择“控制”分类，你会找到这些拼图：</a:t>
            </a:r>
            <a:endParaRPr/>
          </a:p>
        </p:txBody>
      </p:sp>
      <p:pic>
        <p:nvPicPr>
          <p:cNvPr id="158" name="Google Shape;158;p22" title="de29843d8a769d856d3d07e9df73042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425" y="1490500"/>
            <a:ext cx="1557450" cy="3727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0E0E3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角色移动-循环</a:t>
            </a:r>
            <a:endParaRPr/>
          </a:p>
        </p:txBody>
      </p:sp>
      <p:sp>
        <p:nvSpPr>
          <p:cNvPr id="164" name="Google Shape;164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CN"/>
              <a:t>把“重复执行”拖到脚本区，将它和已有的脚本组合成这样：</a:t>
            </a:r>
            <a:endParaRPr/>
          </a:p>
        </p:txBody>
      </p:sp>
      <p:pic>
        <p:nvPicPr>
          <p:cNvPr id="165" name="Google Shape;165;p23" title="8827af85fcf9da929fa053096c2c4f8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763" y="1503238"/>
            <a:ext cx="3000375" cy="311467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3"/>
          <p:cNvSpPr txBox="1"/>
          <p:nvPr/>
        </p:nvSpPr>
        <p:spPr>
          <a:xfrm>
            <a:off x="5350750" y="3866525"/>
            <a:ext cx="3818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dk2"/>
                </a:solidFill>
              </a:rPr>
              <a:t>点击一次绿色旗子，小猫就会一直移动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0E0E3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角色移动-</a:t>
            </a:r>
            <a:r>
              <a:rPr lang="zh-CN"/>
              <a:t>判断条件</a:t>
            </a:r>
            <a:endParaRPr/>
          </a:p>
        </p:txBody>
      </p:sp>
      <p:sp>
        <p:nvSpPr>
          <p:cNvPr id="172" name="Google Shape;172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CN"/>
              <a:t>小猫一直移动到边缘然后离开了舞台，该怎么让它可以自己回来而不通过鼠标拖拽？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0E0E3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角色移动-判断条件</a:t>
            </a:r>
            <a:endParaRPr/>
          </a:p>
        </p:txBody>
      </p:sp>
      <p:sp>
        <p:nvSpPr>
          <p:cNvPr id="178" name="Google Shape;178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CN">
                <a:solidFill>
                  <a:srgbClr val="B45F06"/>
                </a:solidFill>
              </a:rPr>
              <a:t>在“控制”分区里，还有一个拼图叫“如果___，那么”</a:t>
            </a:r>
            <a:endParaRPr>
              <a:solidFill>
                <a:srgbClr val="B45F06"/>
              </a:solidFill>
            </a:endParaRPr>
          </a:p>
        </p:txBody>
      </p:sp>
      <p:pic>
        <p:nvPicPr>
          <p:cNvPr id="179" name="Google Shape;179;p25" title="de29843d8a769d856d3d07e9df73042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425" y="1490500"/>
            <a:ext cx="1557450" cy="3727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5" title="cd754c73d1a189bb7ef90c0f0fc0d1b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59701" y="1395450"/>
            <a:ext cx="1759000" cy="382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5"/>
          <p:cNvSpPr txBox="1"/>
          <p:nvPr>
            <p:ph idx="1" type="body"/>
          </p:nvPr>
        </p:nvSpPr>
        <p:spPr>
          <a:xfrm>
            <a:off x="2034175" y="24458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CN">
                <a:solidFill>
                  <a:srgbClr val="0B5394"/>
                </a:solidFill>
              </a:rPr>
              <a:t>然后换到侦测分区，拖出“碰到鼠标指针？”：</a:t>
            </a:r>
            <a:endParaRPr>
              <a:solidFill>
                <a:srgbClr val="0B5394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0E0E3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角色移动-判断条件</a:t>
            </a:r>
            <a:endParaRPr/>
          </a:p>
        </p:txBody>
      </p:sp>
      <p:sp>
        <p:nvSpPr>
          <p:cNvPr id="187" name="Google Shape;187;p26"/>
          <p:cNvSpPr txBox="1"/>
          <p:nvPr/>
        </p:nvSpPr>
        <p:spPr>
          <a:xfrm>
            <a:off x="1038325" y="1134625"/>
            <a:ext cx="60291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zh-CN" sz="1800">
                <a:solidFill>
                  <a:srgbClr val="0B5394"/>
                </a:solidFill>
              </a:rPr>
              <a:t>“碰到鼠标指针？”</a:t>
            </a:r>
            <a:r>
              <a:rPr lang="zh-CN" sz="1800">
                <a:solidFill>
                  <a:schemeClr val="dk2"/>
                </a:solidFill>
              </a:rPr>
              <a:t>的拼图可以被放进</a:t>
            </a:r>
            <a:r>
              <a:rPr lang="zh-CN" sz="1800">
                <a:solidFill>
                  <a:srgbClr val="B45F06"/>
                </a:solidFill>
              </a:rPr>
              <a:t>“如果___，那么”</a:t>
            </a:r>
            <a:r>
              <a:rPr lang="zh-CN" sz="1800">
                <a:solidFill>
                  <a:schemeClr val="dk2"/>
                </a:solidFill>
              </a:rPr>
              <a:t>的缺口里（scratch会把可以镶嵌的拼图形状做成相同的以便识别，例如这里的棱形）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★"/>
            </a:pPr>
            <a:r>
              <a:rPr lang="zh-CN" sz="1800">
                <a:solidFill>
                  <a:schemeClr val="dk2"/>
                </a:solidFill>
              </a:rPr>
              <a:t>点击“</a:t>
            </a:r>
            <a:r>
              <a:rPr lang="zh-CN" sz="1800">
                <a:solidFill>
                  <a:srgbClr val="0B5394"/>
                </a:solidFill>
              </a:rPr>
              <a:t>鼠标指针</a:t>
            </a:r>
            <a:r>
              <a:rPr lang="zh-CN" sz="1800">
                <a:solidFill>
                  <a:schemeClr val="dk2"/>
                </a:solidFill>
              </a:rPr>
              <a:t>”，可以选择另一个判定对象“</a:t>
            </a:r>
            <a:r>
              <a:rPr lang="zh-CN" sz="1800">
                <a:solidFill>
                  <a:srgbClr val="0B5394"/>
                </a:solidFill>
              </a:rPr>
              <a:t>舞台边缘</a:t>
            </a:r>
            <a:r>
              <a:rPr lang="zh-CN" sz="1800">
                <a:solidFill>
                  <a:schemeClr val="dk2"/>
                </a:solidFill>
              </a:rPr>
              <a:t>”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88" name="Google Shape;188;p26" title="2529b0da6ad0ba4103d5fde2ced4b28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1200" y="3103475"/>
            <a:ext cx="3143950" cy="170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0E0E3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角色移动-判断条件</a:t>
            </a:r>
            <a:endParaRPr/>
          </a:p>
        </p:txBody>
      </p:sp>
      <p:sp>
        <p:nvSpPr>
          <p:cNvPr id="194" name="Google Shape;194;p27"/>
          <p:cNvSpPr txBox="1"/>
          <p:nvPr/>
        </p:nvSpPr>
        <p:spPr>
          <a:xfrm>
            <a:off x="1038325" y="1134625"/>
            <a:ext cx="60291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★"/>
            </a:pPr>
            <a:r>
              <a:rPr lang="zh-CN" sz="1800">
                <a:solidFill>
                  <a:schemeClr val="dk2"/>
                </a:solidFill>
              </a:rPr>
              <a:t>在这个拼图的空隙放上你认为可以组织小猫走出边缘的移动方式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95" name="Google Shape;195;p27" title="ddea8b9d9ec9dbe1ecfa40602ab0588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7300" y="2031825"/>
            <a:ext cx="4257675" cy="282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0E0E3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角色移动-判断条件</a:t>
            </a:r>
            <a:endParaRPr/>
          </a:p>
        </p:txBody>
      </p:sp>
      <p:sp>
        <p:nvSpPr>
          <p:cNvPr id="201" name="Google Shape;201;p28"/>
          <p:cNvSpPr txBox="1"/>
          <p:nvPr/>
        </p:nvSpPr>
        <p:spPr>
          <a:xfrm>
            <a:off x="1038325" y="1134625"/>
            <a:ext cx="60291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★"/>
            </a:pPr>
            <a:r>
              <a:rPr lang="zh-CN" sz="1800">
                <a:solidFill>
                  <a:schemeClr val="dk2"/>
                </a:solidFill>
              </a:rPr>
              <a:t>如果两个拼图组合像现在这样分别摆放，</a:t>
            </a:r>
            <a:r>
              <a:rPr lang="zh-CN" sz="1800">
                <a:solidFill>
                  <a:srgbClr val="B45F06"/>
                </a:solidFill>
              </a:rPr>
              <a:t>“如果--那么”</a:t>
            </a:r>
            <a:r>
              <a:rPr lang="zh-CN" sz="1800">
                <a:solidFill>
                  <a:schemeClr val="dk2"/>
                </a:solidFill>
              </a:rPr>
              <a:t>的判断并没有被执行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★"/>
            </a:pPr>
            <a:r>
              <a:rPr lang="zh-CN" sz="1800">
                <a:solidFill>
                  <a:schemeClr val="dk2"/>
                </a:solidFill>
              </a:rPr>
              <a:t>猜一下我们应该把这一整个拼图组放在刚才的循环的哪里？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02" name="Google Shape;202;p28" title="ddea8b9d9ec9dbe1ecfa40602ab0588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9550" y="2318625"/>
            <a:ext cx="3353625" cy="222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8" title="8827af85fcf9da929fa053096c2c4f8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1575" y="2620927"/>
            <a:ext cx="2326300" cy="241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0E0E3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角色移动-判断条件-</a:t>
            </a:r>
            <a:r>
              <a:rPr lang="zh-CN"/>
              <a:t>键盘</a:t>
            </a:r>
            <a:endParaRPr/>
          </a:p>
        </p:txBody>
      </p:sp>
      <p:sp>
        <p:nvSpPr>
          <p:cNvPr id="209" name="Google Shape;209;p29"/>
          <p:cNvSpPr txBox="1"/>
          <p:nvPr/>
        </p:nvSpPr>
        <p:spPr>
          <a:xfrm>
            <a:off x="410300" y="1017725"/>
            <a:ext cx="60291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★"/>
            </a:pPr>
            <a:r>
              <a:rPr lang="zh-CN" sz="1800">
                <a:solidFill>
                  <a:schemeClr val="dk2"/>
                </a:solidFill>
              </a:rPr>
              <a:t>很多电脑游戏可以使用wasd键让角色移动，想尝试用键盘让小猫移动吗？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0E0E3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角色移动-判断条件-键盘</a:t>
            </a:r>
            <a:endParaRPr/>
          </a:p>
        </p:txBody>
      </p:sp>
      <p:sp>
        <p:nvSpPr>
          <p:cNvPr id="215" name="Google Shape;215;p30"/>
          <p:cNvSpPr txBox="1"/>
          <p:nvPr/>
        </p:nvSpPr>
        <p:spPr>
          <a:xfrm>
            <a:off x="410300" y="1017725"/>
            <a:ext cx="6029100" cy="17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★"/>
            </a:pPr>
            <a:r>
              <a:rPr lang="zh-CN" sz="1800">
                <a:solidFill>
                  <a:schemeClr val="dk2"/>
                </a:solidFill>
              </a:rPr>
              <a:t>在“侦测”里，有一个棱形的“</a:t>
            </a:r>
            <a:r>
              <a:rPr lang="zh-CN" sz="1800">
                <a:solidFill>
                  <a:srgbClr val="0B5394"/>
                </a:solidFill>
              </a:rPr>
              <a:t>按下空格？</a:t>
            </a:r>
            <a:r>
              <a:rPr lang="zh-CN" sz="1800">
                <a:solidFill>
                  <a:schemeClr val="dk2"/>
                </a:solidFill>
              </a:rPr>
              <a:t>”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★"/>
            </a:pPr>
            <a:r>
              <a:rPr lang="zh-CN" sz="1800">
                <a:solidFill>
                  <a:schemeClr val="dk2"/>
                </a:solidFill>
              </a:rPr>
              <a:t>拖进脚本区后，可以点击“</a:t>
            </a:r>
            <a:r>
              <a:rPr lang="zh-CN" sz="1800">
                <a:solidFill>
                  <a:srgbClr val="0B5394"/>
                </a:solidFill>
              </a:rPr>
              <a:t>空格</a:t>
            </a:r>
            <a:r>
              <a:rPr lang="zh-CN" sz="1800">
                <a:solidFill>
                  <a:schemeClr val="dk2"/>
                </a:solidFill>
              </a:rPr>
              <a:t>”，然后更改成你想要进行判定的键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★"/>
            </a:pPr>
            <a:r>
              <a:rPr lang="zh-CN" sz="1800">
                <a:solidFill>
                  <a:schemeClr val="dk2"/>
                </a:solidFill>
              </a:rPr>
              <a:t>把它镶嵌进</a:t>
            </a:r>
            <a:r>
              <a:rPr lang="zh-CN" sz="1800">
                <a:solidFill>
                  <a:srgbClr val="B45F06"/>
                </a:solidFill>
              </a:rPr>
              <a:t>“如果___，那么”</a:t>
            </a:r>
            <a:endParaRPr sz="1800">
              <a:solidFill>
                <a:srgbClr val="B45F06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★"/>
            </a:pPr>
            <a:r>
              <a:rPr lang="zh-CN" sz="1800">
                <a:solidFill>
                  <a:schemeClr val="dk2"/>
                </a:solidFill>
              </a:rPr>
              <a:t>在空隙里放你希望按下这个键时小猫执行的操作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16" name="Google Shape;216;p30" title="5774fc11e778c8d6870361c8d326590f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9375" y="2864375"/>
            <a:ext cx="3314700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0E0E3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角色移动-判断条件-键盘</a:t>
            </a:r>
            <a:endParaRPr/>
          </a:p>
        </p:txBody>
      </p:sp>
      <p:sp>
        <p:nvSpPr>
          <p:cNvPr id="222" name="Google Shape;222;p31"/>
          <p:cNvSpPr txBox="1"/>
          <p:nvPr/>
        </p:nvSpPr>
        <p:spPr>
          <a:xfrm>
            <a:off x="410300" y="1017725"/>
            <a:ext cx="60291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★"/>
            </a:pPr>
            <a:r>
              <a:rPr lang="zh-CN" sz="1800">
                <a:solidFill>
                  <a:schemeClr val="dk2"/>
                </a:solidFill>
              </a:rPr>
              <a:t>请制作四个类似的拼图组并放进主拼图组内，使小猫可以朝上下左右四个方向移动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★"/>
            </a:pPr>
            <a:r>
              <a:rPr lang="zh-CN" sz="1800">
                <a:solidFill>
                  <a:schemeClr val="dk2"/>
                </a:solidFill>
              </a:rPr>
              <a:t>你可以右键单击一个拼图组，然后复制一个相同的，再更改里面的值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23" name="Google Shape;223;p31" title="e7992a96ab3efdb2225615713cd3034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8438" y="2912875"/>
            <a:ext cx="5229225" cy="185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0E0E3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如何保存</a:t>
            </a:r>
            <a:endParaRPr/>
          </a:p>
        </p:txBody>
      </p:sp>
      <p:sp>
        <p:nvSpPr>
          <p:cNvPr id="229" name="Google Shape;229;p32"/>
          <p:cNvSpPr txBox="1"/>
          <p:nvPr/>
        </p:nvSpPr>
        <p:spPr>
          <a:xfrm>
            <a:off x="410300" y="1017725"/>
            <a:ext cx="60291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★"/>
            </a:pPr>
            <a:r>
              <a:rPr lang="zh-CN" sz="1800">
                <a:solidFill>
                  <a:schemeClr val="dk2"/>
                </a:solidFill>
              </a:rPr>
              <a:t>左上角-&gt;文件-&gt;保存到电脑-&gt;命名-&gt;保存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★"/>
            </a:pPr>
            <a:r>
              <a:rPr lang="zh-CN" sz="1800">
                <a:solidFill>
                  <a:schemeClr val="dk2"/>
                </a:solidFill>
              </a:rPr>
              <a:t>要记住文件被保存到哪里，以便下次打开（你可以专门建一个文件夹）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30" name="Google Shape;230;p32" title="3911ab185183e01b3bb5e62eb026568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013200"/>
            <a:ext cx="4829049" cy="195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2" title="aa0c05ed47acf309234266e598cd3f6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48049" y="2456900"/>
            <a:ext cx="4010150" cy="24630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